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6" r:id="rId2"/>
    <p:sldId id="275" r:id="rId3"/>
    <p:sldId id="27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69F6FCE-A1BF-43D5-9E27-0239614633E9}">
          <p14:sldIdLst>
            <p14:sldId id="276"/>
            <p14:sldId id="275"/>
            <p14:sldId id="277"/>
          </p14:sldIdLst>
        </p14:section>
      </p14:sectionLst>
    </p:ex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66FF"/>
    <a:srgbClr val="FFFFCC"/>
    <a:srgbClr val="4472C4"/>
    <a:srgbClr val="FFFFFF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1" autoAdjust="0"/>
    <p:restoredTop sz="94660"/>
  </p:normalViewPr>
  <p:slideViewPr>
    <p:cSldViewPr snapToGrid="0">
      <p:cViewPr>
        <p:scale>
          <a:sx n="70" d="100"/>
          <a:sy n="70" d="100"/>
        </p:scale>
        <p:origin x="-1032" y="-180"/>
      </p:cViewPr>
      <p:guideLst>
        <p:guide orient="horz" pos="2160"/>
        <p:guide pos="3840"/>
      </p:guideLst>
    </p:cSldViewPr>
  </p:slid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624D4-A682-4441-971F-67A3DD8FEBB5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FEE79-87AB-4B24-99AC-90E1C2A31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21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FEE79-87AB-4B24-99AC-90E1C2A3157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69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FEE79-87AB-4B24-99AC-90E1C2A3157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69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FEE79-87AB-4B24-99AC-90E1C2A3157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6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45877F-1B51-3807-BF49-C62949941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6B1D845-E5C4-5634-F893-1168BD7CD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4A4132B-3CD4-936F-4801-E6CC9DD46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205166-85DF-0C02-B8FB-A6D89E624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2F34BC9-66DD-973D-09DA-91801986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610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A85188-8206-55C0-AB0A-0022B0E1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D8269ED-CCFE-4A29-FBA5-5396B506E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02090D-DB54-01D6-C16B-10E09D27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486B2B0-AC63-1563-1F17-0A91B5578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AB268A-147A-ED62-7A02-039FEC533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46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146225-5251-55B8-E0E5-E13F48E9E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C3A7783-5D74-61EF-4D34-376191F0B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F37D35E-D6B4-410B-8316-8EA445A38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9BFC06B-4669-82F5-7F68-A2192CFB4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ABAE4D7-B86C-62B7-66E8-5B6C4A9A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282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0557F0-201F-768B-A1B8-C94DA86E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844827B-465E-3562-6251-32660FE50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654C30F-9439-4FCE-EE09-980C828C7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8AF0087-4EAD-2761-F7C5-8DD198C6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A38337E-AD82-EACF-6AFF-A0CF5B68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51B2B0A-6745-7721-F001-E54DB28A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89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2F44E6-407A-E5C9-9331-0AA1F8D62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D2F2C5D-B5C9-AACD-7F31-917ADFFD5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CCF5626-9963-F33E-165C-5811BB3FE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444468B-DD8F-E494-0968-24CB022CD7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5BBAE67-A7A8-AA8C-A351-0961D85B2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288EC1F-0879-4CEB-3C48-830A1AEAA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A50D7172-0982-B509-FE28-BA88E897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1759237-59E0-1F9C-5B50-4CEA9088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99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542303-CF3E-0490-267F-7178EC938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9F572A3-5F32-3F81-57D0-E95C6634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2FFAB20-40D9-AC3E-DB7F-8CB50A94F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95B86AE-FFFF-FD37-59BF-81CDA26B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4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212358C-DE97-1C75-4E08-47FF59B52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0411221-3B2D-E566-B487-1F6E3C553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347E42E-1852-C69E-4901-3DD3200E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90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70D7FA-7767-FCB1-8B96-27479663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1B3899-09EE-6074-3870-61897FF0C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9D8BC15-1683-8F09-1AD0-61CE858DC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241B42C-C4F4-13ED-DC9F-7997DC26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B89BDE6-07D9-279C-CCD4-99FB86082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FF341CC-F311-06FA-5609-82667417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893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FC4D4CE-9EEC-0F99-23F8-F2060074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D7B8E88-78BE-6770-6EB7-267E217DB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C69F5BA-F159-4EA9-50E2-B6FE0DF19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5F93701-3AA7-201B-875D-869B8765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6A989FD-76BD-C4C2-3914-BE16C8E4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738EB9B-251F-B9CF-948B-CBF0A4FD1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7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0755DF-B491-75ED-ADEB-2278FC498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EE248B9-2BD7-19A3-CF5C-B36C9C840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525E0AA-F7D5-7855-220F-CB425C86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38662D-74C5-F5CF-85D4-5BEB6C22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15ADC9E-01FA-34AC-5E86-489260609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861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65D42B6C-6E09-78E5-BFF7-09C2334A7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4177F99-7CA4-9D56-78D6-727082B0D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7B599CC-FBB5-94F3-ED96-BD8FE57C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7F505C8-FBFC-FD5E-4B98-C8AFD897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7FD7ABB-6892-0222-EFB6-6A5C45C3C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69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5DC65BE-7E58-FDD7-4B0E-5593C2F9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6E0525B-2BE3-B484-41C1-2801A8304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46422E3-02B1-1F4E-D854-11956DFAC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8E8084-69D6-4357-B957-157F81FA78A9}" type="datetimeFigureOut">
              <a:rPr lang="en-IN" smtClean="0"/>
              <a:t>13-04-2025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8CBF00D-86DC-781E-1787-2C7A8EAAF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0513DFF-1426-23C5-4CB2-C12119173E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2A9C7-6B16-4E08-B262-C52FE9535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717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04">
            <a:extLst>
              <a:ext uri="{FF2B5EF4-FFF2-40B4-BE49-F238E27FC236}">
                <a16:creationId xmlns="" xmlns:a16="http://schemas.microsoft.com/office/drawing/2014/main" id="{37699EF0-F68E-91AD-1598-3EB9853E0856}"/>
              </a:ext>
            </a:extLst>
          </p:cNvPr>
          <p:cNvSpPr txBox="1"/>
          <p:nvPr/>
        </p:nvSpPr>
        <p:spPr>
          <a:xfrm>
            <a:off x="144074" y="155276"/>
            <a:ext cx="2439105" cy="36933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NN Implementation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="" xmlns:a16="http://schemas.microsoft.com/office/drawing/2014/main" id="{EEC97A81-9EA2-02BF-4898-E9D1DFCB2B30}"/>
              </a:ext>
            </a:extLst>
          </p:cNvPr>
          <p:cNvSpPr txBox="1"/>
          <p:nvPr/>
        </p:nvSpPr>
        <p:spPr>
          <a:xfrm>
            <a:off x="6417435" y="2169853"/>
            <a:ext cx="1869929" cy="646331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NN2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(for prediction of Gas and Oil Price)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="" xmlns:a16="http://schemas.microsoft.com/office/drawing/2014/main" id="{454EB330-6155-E2EE-8BF7-DB1256644686}"/>
              </a:ext>
            </a:extLst>
          </p:cNvPr>
          <p:cNvSpPr txBox="1"/>
          <p:nvPr/>
        </p:nvSpPr>
        <p:spPr>
          <a:xfrm>
            <a:off x="3761163" y="2169854"/>
            <a:ext cx="1529313" cy="646331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NN1</a:t>
            </a:r>
          </a:p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(for prediction of Rig count, Tam, Capex)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="" xmlns:a16="http://schemas.microsoft.com/office/drawing/2014/main" id="{BCC9EEE7-04FB-94AD-AF18-0DC60631C4E0}"/>
              </a:ext>
            </a:extLst>
          </p:cNvPr>
          <p:cNvGrpSpPr/>
          <p:nvPr/>
        </p:nvGrpSpPr>
        <p:grpSpPr>
          <a:xfrm>
            <a:off x="101698" y="633119"/>
            <a:ext cx="915705" cy="1016804"/>
            <a:chOff x="1567007" y="1684212"/>
            <a:chExt cx="915705" cy="1016804"/>
          </a:xfrm>
        </p:grpSpPr>
        <p:pic>
          <p:nvPicPr>
            <p:cNvPr id="110" name="Graphic 32" descr="User">
              <a:extLst>
                <a:ext uri="{FF2B5EF4-FFF2-40B4-BE49-F238E27FC236}">
                  <a16:creationId xmlns="" xmlns:a16="http://schemas.microsoft.com/office/drawing/2014/main" id="{27A516CB-FAA9-9901-7537-4342B30E8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67007" y="1684212"/>
              <a:ext cx="915705" cy="915705"/>
            </a:xfrm>
            <a:prstGeom prst="rect">
              <a:avLst/>
            </a:prstGeom>
          </p:spPr>
        </p:pic>
        <p:sp>
          <p:nvSpPr>
            <p:cNvPr id="111" name="Rectangle 110">
              <a:extLst>
                <a:ext uri="{FF2B5EF4-FFF2-40B4-BE49-F238E27FC236}">
                  <a16:creationId xmlns="" xmlns:a16="http://schemas.microsoft.com/office/drawing/2014/main" id="{8F282AE1-4AB0-F31D-3C25-7652BF650EE3}"/>
                </a:ext>
              </a:extLst>
            </p:cNvPr>
            <p:cNvSpPr/>
            <p:nvPr/>
          </p:nvSpPr>
          <p:spPr>
            <a:xfrm>
              <a:off x="1576363" y="2424017"/>
              <a:ext cx="87761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1200" b="1" dirty="0">
                  <a:latin typeface="Times New Roman" pitchFamily="18" charset="0"/>
                  <a:cs typeface="Times New Roman" pitchFamily="18" charset="0"/>
                </a:rPr>
                <a:t>User input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="" xmlns:a16="http://schemas.microsoft.com/office/drawing/2014/main" id="{01218D18-DBA4-D372-0EB5-C01BD9885A37}"/>
              </a:ext>
            </a:extLst>
          </p:cNvPr>
          <p:cNvSpPr txBox="1"/>
          <p:nvPr/>
        </p:nvSpPr>
        <p:spPr>
          <a:xfrm>
            <a:off x="4983751" y="759438"/>
            <a:ext cx="1809820" cy="646331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Selection of Neural Network that is combined in single code 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="" xmlns:a16="http://schemas.microsoft.com/office/drawing/2014/main" id="{E3BA63ED-F3F2-8BB2-B381-22799C2E19A1}"/>
              </a:ext>
            </a:extLst>
          </p:cNvPr>
          <p:cNvCxnSpPr>
            <a:cxnSpLocks/>
          </p:cNvCxnSpPr>
          <p:nvPr/>
        </p:nvCxnSpPr>
        <p:spPr>
          <a:xfrm>
            <a:off x="4750867" y="2877800"/>
            <a:ext cx="232884" cy="322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="" xmlns:a16="http://schemas.microsoft.com/office/drawing/2014/main" id="{2EDEA8B9-BFF0-DBD3-2483-C0D98C9B8D20}"/>
              </a:ext>
            </a:extLst>
          </p:cNvPr>
          <p:cNvSpPr txBox="1"/>
          <p:nvPr/>
        </p:nvSpPr>
        <p:spPr>
          <a:xfrm>
            <a:off x="48445" y="2031353"/>
            <a:ext cx="1369706" cy="27699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Historical Data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5" name="Oval 114">
            <a:extLst>
              <a:ext uri="{FF2B5EF4-FFF2-40B4-BE49-F238E27FC236}">
                <a16:creationId xmlns="" xmlns:a16="http://schemas.microsoft.com/office/drawing/2014/main" id="{F91DAB0D-A5DD-E81E-32D4-C87058F7A9F3}"/>
              </a:ext>
            </a:extLst>
          </p:cNvPr>
          <p:cNvSpPr/>
          <p:nvPr/>
        </p:nvSpPr>
        <p:spPr>
          <a:xfrm>
            <a:off x="1840998" y="1870669"/>
            <a:ext cx="1178805" cy="1007131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INPUT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="" xmlns:a16="http://schemas.microsoft.com/office/drawing/2014/main" id="{D41EC7CF-0506-DEE2-0EAB-DD62063B8369}"/>
              </a:ext>
            </a:extLst>
          </p:cNvPr>
          <p:cNvSpPr txBox="1"/>
          <p:nvPr/>
        </p:nvSpPr>
        <p:spPr>
          <a:xfrm>
            <a:off x="471292" y="3183627"/>
            <a:ext cx="1369706" cy="64633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Global  and Industrial Indicators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="" xmlns:a16="http://schemas.microsoft.com/office/drawing/2014/main" id="{2D6E4636-A664-0C70-2EEC-F25D460B8583}"/>
              </a:ext>
            </a:extLst>
          </p:cNvPr>
          <p:cNvCxnSpPr/>
          <p:nvPr/>
        </p:nvCxnSpPr>
        <p:spPr>
          <a:xfrm>
            <a:off x="3081201" y="2308353"/>
            <a:ext cx="603042" cy="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Oval 120">
            <a:extLst>
              <a:ext uri="{FF2B5EF4-FFF2-40B4-BE49-F238E27FC236}">
                <a16:creationId xmlns="" xmlns:a16="http://schemas.microsoft.com/office/drawing/2014/main" id="{3A62F144-A371-A894-451D-066FDDFDBD73}"/>
              </a:ext>
            </a:extLst>
          </p:cNvPr>
          <p:cNvSpPr/>
          <p:nvPr/>
        </p:nvSpPr>
        <p:spPr>
          <a:xfrm>
            <a:off x="9063927" y="1787566"/>
            <a:ext cx="1178805" cy="1007131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INPUT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="" xmlns:a16="http://schemas.microsoft.com/office/drawing/2014/main" id="{1A47A660-0B64-C973-47F2-2750DD558543}"/>
              </a:ext>
            </a:extLst>
          </p:cNvPr>
          <p:cNvSpPr txBox="1"/>
          <p:nvPr/>
        </p:nvSpPr>
        <p:spPr>
          <a:xfrm>
            <a:off x="10565210" y="1658962"/>
            <a:ext cx="1369706" cy="276999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Historical Data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="" xmlns:a16="http://schemas.microsoft.com/office/drawing/2014/main" id="{D72132F4-AFF4-39C2-532F-32D695AACFA9}"/>
              </a:ext>
            </a:extLst>
          </p:cNvPr>
          <p:cNvSpPr txBox="1"/>
          <p:nvPr/>
        </p:nvSpPr>
        <p:spPr>
          <a:xfrm>
            <a:off x="10511186" y="3011554"/>
            <a:ext cx="1369706" cy="64633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Global and Industrial Indicators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="" xmlns:a16="http://schemas.microsoft.com/office/drawing/2014/main" id="{1D746C5D-F731-0473-6B35-22CC5B660E1F}"/>
              </a:ext>
            </a:extLst>
          </p:cNvPr>
          <p:cNvCxnSpPr/>
          <p:nvPr/>
        </p:nvCxnSpPr>
        <p:spPr>
          <a:xfrm>
            <a:off x="8427341" y="2308354"/>
            <a:ext cx="603042" cy="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="" xmlns:a16="http://schemas.microsoft.com/office/drawing/2014/main" id="{5D33AB59-2007-161D-AF38-8856CF51AB22}"/>
              </a:ext>
            </a:extLst>
          </p:cNvPr>
          <p:cNvCxnSpPr>
            <a:cxnSpLocks/>
          </p:cNvCxnSpPr>
          <p:nvPr/>
        </p:nvCxnSpPr>
        <p:spPr>
          <a:xfrm flipH="1">
            <a:off x="4579874" y="1464805"/>
            <a:ext cx="411686" cy="651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="" xmlns:a16="http://schemas.microsoft.com/office/drawing/2014/main" id="{6115B1FD-E989-8002-1226-ED8F4147B619}"/>
              </a:ext>
            </a:extLst>
          </p:cNvPr>
          <p:cNvCxnSpPr>
            <a:cxnSpLocks/>
          </p:cNvCxnSpPr>
          <p:nvPr/>
        </p:nvCxnSpPr>
        <p:spPr>
          <a:xfrm>
            <a:off x="6748862" y="1451810"/>
            <a:ext cx="567043" cy="676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42338337-F7EA-754D-74A5-56630CD673D0}"/>
              </a:ext>
            </a:extLst>
          </p:cNvPr>
          <p:cNvSpPr txBox="1"/>
          <p:nvPr/>
        </p:nvSpPr>
        <p:spPr>
          <a:xfrm>
            <a:off x="5163399" y="3002205"/>
            <a:ext cx="1840991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Merging of outputs from both NN based on selected ones and give output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="" xmlns:a16="http://schemas.microsoft.com/office/drawing/2014/main" id="{206D2DCA-156C-1915-DE65-9B34CD19DCF7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1418151" y="2169852"/>
            <a:ext cx="3338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="" xmlns:a16="http://schemas.microsoft.com/office/drawing/2014/main" id="{4F8BE2CC-89A7-E887-3A9E-F3C2166DC815}"/>
              </a:ext>
            </a:extLst>
          </p:cNvPr>
          <p:cNvCxnSpPr>
            <a:cxnSpLocks/>
          </p:cNvCxnSpPr>
          <p:nvPr/>
        </p:nvCxnSpPr>
        <p:spPr>
          <a:xfrm flipV="1">
            <a:off x="1878255" y="2930114"/>
            <a:ext cx="390369" cy="404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="" xmlns:a16="http://schemas.microsoft.com/office/drawing/2014/main" id="{54F075DB-1D6D-6FDA-27A1-2364C821C80C}"/>
              </a:ext>
            </a:extLst>
          </p:cNvPr>
          <p:cNvCxnSpPr>
            <a:cxnSpLocks/>
          </p:cNvCxnSpPr>
          <p:nvPr/>
        </p:nvCxnSpPr>
        <p:spPr>
          <a:xfrm flipH="1">
            <a:off x="7132652" y="2907133"/>
            <a:ext cx="318920" cy="31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="" xmlns:a16="http://schemas.microsoft.com/office/drawing/2014/main" id="{9E0C7105-760E-E586-7C15-4D810C76406F}"/>
              </a:ext>
            </a:extLst>
          </p:cNvPr>
          <p:cNvCxnSpPr>
            <a:cxnSpLocks/>
            <a:stCxn id="122" idx="1"/>
          </p:cNvCxnSpPr>
          <p:nvPr/>
        </p:nvCxnSpPr>
        <p:spPr>
          <a:xfrm flipH="1">
            <a:off x="10276894" y="1797462"/>
            <a:ext cx="288316" cy="276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="" xmlns:a16="http://schemas.microsoft.com/office/drawing/2014/main" id="{1DAD5188-FE01-C4E2-F7E1-4183A5E5A0A2}"/>
              </a:ext>
            </a:extLst>
          </p:cNvPr>
          <p:cNvCxnSpPr>
            <a:cxnSpLocks/>
            <a:stCxn id="123" idx="1"/>
          </p:cNvCxnSpPr>
          <p:nvPr/>
        </p:nvCxnSpPr>
        <p:spPr>
          <a:xfrm flipH="1" flipV="1">
            <a:off x="10244606" y="3011043"/>
            <a:ext cx="266580" cy="323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Left Brace 135">
            <a:extLst>
              <a:ext uri="{FF2B5EF4-FFF2-40B4-BE49-F238E27FC236}">
                <a16:creationId xmlns="" xmlns:a16="http://schemas.microsoft.com/office/drawing/2014/main" id="{727A4329-5F80-EFA5-9396-507931B2F17A}"/>
              </a:ext>
            </a:extLst>
          </p:cNvPr>
          <p:cNvSpPr/>
          <p:nvPr/>
        </p:nvSpPr>
        <p:spPr>
          <a:xfrm>
            <a:off x="4906687" y="3043005"/>
            <a:ext cx="383789" cy="1402506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7" name="Double Bracket 136">
            <a:extLst>
              <a:ext uri="{FF2B5EF4-FFF2-40B4-BE49-F238E27FC236}">
                <a16:creationId xmlns="" xmlns:a16="http://schemas.microsoft.com/office/drawing/2014/main" id="{CA69D06B-DDB4-A599-3698-6318FD82A0FE}"/>
              </a:ext>
            </a:extLst>
          </p:cNvPr>
          <p:cNvSpPr/>
          <p:nvPr/>
        </p:nvSpPr>
        <p:spPr>
          <a:xfrm>
            <a:off x="10313642" y="3878840"/>
            <a:ext cx="1350524" cy="430824"/>
          </a:xfrm>
          <a:prstGeom prst="bracketPair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="" xmlns:a16="http://schemas.microsoft.com/office/drawing/2014/main" id="{FA7D3EE5-B89B-12EB-B45D-8CC93C602AB9}"/>
              </a:ext>
            </a:extLst>
          </p:cNvPr>
          <p:cNvSpPr txBox="1"/>
          <p:nvPr/>
        </p:nvSpPr>
        <p:spPr>
          <a:xfrm>
            <a:off x="10313641" y="3904059"/>
            <a:ext cx="135052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Preprocessed and Standardized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9" name="Double Bracket 138">
            <a:extLst>
              <a:ext uri="{FF2B5EF4-FFF2-40B4-BE49-F238E27FC236}">
                <a16:creationId xmlns="" xmlns:a16="http://schemas.microsoft.com/office/drawing/2014/main" id="{6FFF1751-0460-01A2-0963-E796D262C387}"/>
              </a:ext>
            </a:extLst>
          </p:cNvPr>
          <p:cNvSpPr/>
          <p:nvPr/>
        </p:nvSpPr>
        <p:spPr>
          <a:xfrm>
            <a:off x="1267996" y="3878840"/>
            <a:ext cx="1312007" cy="486885"/>
          </a:xfrm>
          <a:prstGeom prst="bracketPair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2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="" xmlns:a16="http://schemas.microsoft.com/office/drawing/2014/main" id="{6BF0B2F0-5D38-AF7F-6CCE-4742FC1DE2DA}"/>
              </a:ext>
            </a:extLst>
          </p:cNvPr>
          <p:cNvSpPr txBox="1"/>
          <p:nvPr/>
        </p:nvSpPr>
        <p:spPr>
          <a:xfrm>
            <a:off x="1228040" y="3904060"/>
            <a:ext cx="1350524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Preprocessed and Standardized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1" name="Left Brace 140">
            <a:extLst>
              <a:ext uri="{FF2B5EF4-FFF2-40B4-BE49-F238E27FC236}">
                <a16:creationId xmlns="" xmlns:a16="http://schemas.microsoft.com/office/drawing/2014/main" id="{4EBF23E3-05B1-A28F-A57B-8DCA8423C943}"/>
              </a:ext>
            </a:extLst>
          </p:cNvPr>
          <p:cNvSpPr/>
          <p:nvPr/>
        </p:nvSpPr>
        <p:spPr>
          <a:xfrm flipH="1">
            <a:off x="6840490" y="3043005"/>
            <a:ext cx="383789" cy="1402506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12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2" name="Graphic 1092" descr="Paper">
            <a:extLst>
              <a:ext uri="{FF2B5EF4-FFF2-40B4-BE49-F238E27FC236}">
                <a16:creationId xmlns="" xmlns:a16="http://schemas.microsoft.com/office/drawing/2014/main" id="{35E5ABBA-211A-4332-0FB5-9D6DEF583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5629" y="3438906"/>
            <a:ext cx="613035" cy="613035"/>
          </a:xfrm>
          <a:prstGeom prst="rect">
            <a:avLst/>
          </a:prstGeom>
        </p:spPr>
      </p:pic>
      <p:sp>
        <p:nvSpPr>
          <p:cNvPr id="143" name="Rectangle 142"/>
          <p:cNvSpPr/>
          <p:nvPr/>
        </p:nvSpPr>
        <p:spPr>
          <a:xfrm>
            <a:off x="-62530" y="4038118"/>
            <a:ext cx="7958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Dataset Based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4" name="Graphic 1092" descr="Paper">
            <a:extLst>
              <a:ext uri="{FF2B5EF4-FFF2-40B4-BE49-F238E27FC236}">
                <a16:creationId xmlns="" xmlns:a16="http://schemas.microsoft.com/office/drawing/2014/main" id="{35E5ABBA-211A-4332-0FB5-9D6DEF583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82978" y="859401"/>
            <a:ext cx="613035" cy="613035"/>
          </a:xfrm>
          <a:prstGeom prst="rect">
            <a:avLst/>
          </a:prstGeom>
        </p:spPr>
      </p:pic>
      <p:sp>
        <p:nvSpPr>
          <p:cNvPr id="145" name="Rectangle 144"/>
          <p:cNvSpPr/>
          <p:nvPr/>
        </p:nvSpPr>
        <p:spPr>
          <a:xfrm>
            <a:off x="10868337" y="910689"/>
            <a:ext cx="7958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Dataset Based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="" xmlns:a16="http://schemas.microsoft.com/office/drawing/2014/main" id="{454EB330-6155-E2EE-8BF7-DB1256644686}"/>
              </a:ext>
            </a:extLst>
          </p:cNvPr>
          <p:cNvSpPr txBox="1"/>
          <p:nvPr/>
        </p:nvSpPr>
        <p:spPr>
          <a:xfrm>
            <a:off x="3398488" y="5007935"/>
            <a:ext cx="1529313" cy="276999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Oil_Price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="" xmlns:a16="http://schemas.microsoft.com/office/drawing/2014/main" id="{454EB330-6155-E2EE-8BF7-DB1256644686}"/>
              </a:ext>
            </a:extLst>
          </p:cNvPr>
          <p:cNvSpPr txBox="1"/>
          <p:nvPr/>
        </p:nvSpPr>
        <p:spPr>
          <a:xfrm>
            <a:off x="5334917" y="5007935"/>
            <a:ext cx="1529313" cy="276999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Rig_Count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="" xmlns:a16="http://schemas.microsoft.com/office/drawing/2014/main" id="{454EB330-6155-E2EE-8BF7-DB1256644686}"/>
              </a:ext>
            </a:extLst>
          </p:cNvPr>
          <p:cNvSpPr txBox="1"/>
          <p:nvPr/>
        </p:nvSpPr>
        <p:spPr>
          <a:xfrm>
            <a:off x="7289750" y="5007934"/>
            <a:ext cx="1529313" cy="276999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TAM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="" xmlns:a16="http://schemas.microsoft.com/office/drawing/2014/main" id="{454EB330-6155-E2EE-8BF7-DB1256644686}"/>
              </a:ext>
            </a:extLst>
          </p:cNvPr>
          <p:cNvSpPr txBox="1"/>
          <p:nvPr/>
        </p:nvSpPr>
        <p:spPr>
          <a:xfrm>
            <a:off x="9312876" y="5008516"/>
            <a:ext cx="1529313" cy="276999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Capex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="" xmlns:a16="http://schemas.microsoft.com/office/drawing/2014/main" id="{454EB330-6155-E2EE-8BF7-DB1256644686}"/>
              </a:ext>
            </a:extLst>
          </p:cNvPr>
          <p:cNvSpPr txBox="1"/>
          <p:nvPr/>
        </p:nvSpPr>
        <p:spPr>
          <a:xfrm>
            <a:off x="1490489" y="5008516"/>
            <a:ext cx="1529313" cy="276999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err="1">
                <a:latin typeface="Times New Roman" pitchFamily="18" charset="0"/>
                <a:cs typeface="Times New Roman" pitchFamily="18" charset="0"/>
              </a:rPr>
              <a:t>Gas_Price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="" xmlns:a16="http://schemas.microsoft.com/office/drawing/2014/main" id="{54F075DB-1D6D-6FDA-27A1-2364C821C80C}"/>
              </a:ext>
            </a:extLst>
          </p:cNvPr>
          <p:cNvCxnSpPr>
            <a:cxnSpLocks/>
          </p:cNvCxnSpPr>
          <p:nvPr/>
        </p:nvCxnSpPr>
        <p:spPr>
          <a:xfrm>
            <a:off x="2321197" y="4586182"/>
            <a:ext cx="1" cy="27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="" xmlns:a16="http://schemas.microsoft.com/office/drawing/2014/main" id="{54F075DB-1D6D-6FDA-27A1-2364C821C80C}"/>
              </a:ext>
            </a:extLst>
          </p:cNvPr>
          <p:cNvCxnSpPr>
            <a:cxnSpLocks/>
          </p:cNvCxnSpPr>
          <p:nvPr/>
        </p:nvCxnSpPr>
        <p:spPr>
          <a:xfrm>
            <a:off x="4154799" y="4572115"/>
            <a:ext cx="1" cy="27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="" xmlns:a16="http://schemas.microsoft.com/office/drawing/2014/main" id="{54F075DB-1D6D-6FDA-27A1-2364C821C80C}"/>
              </a:ext>
            </a:extLst>
          </p:cNvPr>
          <p:cNvCxnSpPr>
            <a:cxnSpLocks/>
          </p:cNvCxnSpPr>
          <p:nvPr/>
        </p:nvCxnSpPr>
        <p:spPr>
          <a:xfrm>
            <a:off x="6099573" y="4572114"/>
            <a:ext cx="1" cy="27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="" xmlns:a16="http://schemas.microsoft.com/office/drawing/2014/main" id="{54F075DB-1D6D-6FDA-27A1-2364C821C80C}"/>
              </a:ext>
            </a:extLst>
          </p:cNvPr>
          <p:cNvCxnSpPr>
            <a:cxnSpLocks/>
          </p:cNvCxnSpPr>
          <p:nvPr/>
        </p:nvCxnSpPr>
        <p:spPr>
          <a:xfrm>
            <a:off x="8054406" y="4572115"/>
            <a:ext cx="1" cy="27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="" xmlns:a16="http://schemas.microsoft.com/office/drawing/2014/main" id="{54F075DB-1D6D-6FDA-27A1-2364C821C80C}"/>
              </a:ext>
            </a:extLst>
          </p:cNvPr>
          <p:cNvCxnSpPr>
            <a:cxnSpLocks/>
          </p:cNvCxnSpPr>
          <p:nvPr/>
        </p:nvCxnSpPr>
        <p:spPr>
          <a:xfrm>
            <a:off x="10077532" y="4617870"/>
            <a:ext cx="1" cy="27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2321198" y="4586182"/>
            <a:ext cx="77563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D7890B4-8E9E-84E3-059C-BE9DD121C8A3}"/>
              </a:ext>
            </a:extLst>
          </p:cNvPr>
          <p:cNvSpPr txBox="1"/>
          <p:nvPr/>
        </p:nvSpPr>
        <p:spPr>
          <a:xfrm>
            <a:off x="998023" y="846929"/>
            <a:ext cx="1390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what user </a:t>
            </a:r>
          </a:p>
          <a:p>
            <a:pPr algn="ctr"/>
            <a:r>
              <a:rPr lang="en-IN" sz="1400" dirty="0"/>
              <a:t>wants to predict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="" xmlns:a16="http://schemas.microsoft.com/office/drawing/2014/main" id="{257283AB-9920-7A18-090F-B9BC02A1238F}"/>
              </a:ext>
            </a:extLst>
          </p:cNvPr>
          <p:cNvCxnSpPr>
            <a:cxnSpLocks/>
          </p:cNvCxnSpPr>
          <p:nvPr/>
        </p:nvCxnSpPr>
        <p:spPr>
          <a:xfrm flipV="1">
            <a:off x="850472" y="1089883"/>
            <a:ext cx="3338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2696583" y="854629"/>
            <a:ext cx="1800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Selection of datasets </a:t>
            </a:r>
          </a:p>
          <a:p>
            <a:r>
              <a:rPr lang="en-IN" sz="1400" dirty="0"/>
              <a:t>Relevant to prediction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="" xmlns:a16="http://schemas.microsoft.com/office/drawing/2014/main" id="{3C429BC7-BCAF-4FE1-1B5A-805060BEC42C}"/>
              </a:ext>
            </a:extLst>
          </p:cNvPr>
          <p:cNvCxnSpPr>
            <a:cxnSpLocks/>
          </p:cNvCxnSpPr>
          <p:nvPr/>
        </p:nvCxnSpPr>
        <p:spPr>
          <a:xfrm flipV="1">
            <a:off x="2270419" y="1068728"/>
            <a:ext cx="3338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45A629CD-4AF8-D311-EE5A-301786D3AC41}"/>
              </a:ext>
            </a:extLst>
          </p:cNvPr>
          <p:cNvCxnSpPr>
            <a:cxnSpLocks/>
          </p:cNvCxnSpPr>
          <p:nvPr/>
        </p:nvCxnSpPr>
        <p:spPr>
          <a:xfrm flipV="1">
            <a:off x="4497461" y="1108538"/>
            <a:ext cx="3338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2419585" y="5670889"/>
            <a:ext cx="77563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="" xmlns:a16="http://schemas.microsoft.com/office/drawing/2014/main" id="{54F075DB-1D6D-6FDA-27A1-2364C821C80C}"/>
              </a:ext>
            </a:extLst>
          </p:cNvPr>
          <p:cNvCxnSpPr>
            <a:cxnSpLocks/>
          </p:cNvCxnSpPr>
          <p:nvPr/>
        </p:nvCxnSpPr>
        <p:spPr>
          <a:xfrm>
            <a:off x="6385899" y="5687501"/>
            <a:ext cx="0" cy="210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7421434" y="6182128"/>
            <a:ext cx="992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 smtClean="0">
                <a:solidFill>
                  <a:srgbClr val="FF0000"/>
                </a:solidFill>
              </a:rPr>
              <a:t>Disruptor</a:t>
            </a:r>
            <a:endParaRPr lang="en-IN" sz="1600" b="1" dirty="0">
              <a:solidFill>
                <a:srgbClr val="FF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7132652" y="619751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smtClean="0"/>
              <a:t>+</a:t>
            </a:r>
            <a:endParaRPr lang="en-IN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8484537" y="6197515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smtClean="0"/>
              <a:t>=</a:t>
            </a:r>
            <a:endParaRPr lang="en-IN" sz="1400" dirty="0"/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8857688" y="6182128"/>
            <a:ext cx="1386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 smtClean="0">
                <a:solidFill>
                  <a:srgbClr val="C55A11"/>
                </a:solidFill>
              </a:rPr>
              <a:t>Actual Output</a:t>
            </a:r>
            <a:endParaRPr lang="en-IN" sz="1600" b="1" dirty="0">
              <a:solidFill>
                <a:srgbClr val="C55A1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419585" y="5486400"/>
            <a:ext cx="0" cy="184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10172595" y="5454311"/>
            <a:ext cx="0" cy="1844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="" xmlns:a16="http://schemas.microsoft.com/office/drawing/2014/main" id="{F91DAB0D-A5DD-E81E-32D4-C87058F7A9F3}"/>
              </a:ext>
            </a:extLst>
          </p:cNvPr>
          <p:cNvSpPr/>
          <p:nvPr/>
        </p:nvSpPr>
        <p:spPr>
          <a:xfrm>
            <a:off x="5845466" y="5954099"/>
            <a:ext cx="1186917" cy="794612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IN" sz="1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406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37699EF0-F68E-91AD-1598-3EB9853E0856}"/>
              </a:ext>
            </a:extLst>
          </p:cNvPr>
          <p:cNvSpPr txBox="1"/>
          <p:nvPr/>
        </p:nvSpPr>
        <p:spPr>
          <a:xfrm>
            <a:off x="144074" y="155276"/>
            <a:ext cx="2439105" cy="64633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Disruptors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454EB330-6155-E2EE-8BF7-DB1256644686}"/>
              </a:ext>
            </a:extLst>
          </p:cNvPr>
          <p:cNvSpPr txBox="1"/>
          <p:nvPr/>
        </p:nvSpPr>
        <p:spPr>
          <a:xfrm>
            <a:off x="2389563" y="2079154"/>
            <a:ext cx="1529313" cy="70788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Previous 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NN Model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45A629CD-4AF8-D311-EE5A-301786D3AC41}"/>
              </a:ext>
            </a:extLst>
          </p:cNvPr>
          <p:cNvCxnSpPr>
            <a:cxnSpLocks/>
          </p:cNvCxnSpPr>
          <p:nvPr/>
        </p:nvCxnSpPr>
        <p:spPr>
          <a:xfrm flipV="1">
            <a:off x="4297937" y="2309985"/>
            <a:ext cx="636013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3A62F144-A371-A894-451D-066FDDFDBD73}"/>
              </a:ext>
            </a:extLst>
          </p:cNvPr>
          <p:cNvSpPr/>
          <p:nvPr/>
        </p:nvSpPr>
        <p:spPr>
          <a:xfrm>
            <a:off x="5198782" y="1806421"/>
            <a:ext cx="1178805" cy="1007131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5D33AB59-2007-161D-AF38-8856CF51AB22}"/>
              </a:ext>
            </a:extLst>
          </p:cNvPr>
          <p:cNvCxnSpPr>
            <a:cxnSpLocks/>
          </p:cNvCxnSpPr>
          <p:nvPr/>
        </p:nvCxnSpPr>
        <p:spPr>
          <a:xfrm flipV="1">
            <a:off x="6457909" y="1447800"/>
            <a:ext cx="1019065" cy="487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5D33AB59-2007-161D-AF38-8856CF51AB22}"/>
              </a:ext>
            </a:extLst>
          </p:cNvPr>
          <p:cNvCxnSpPr>
            <a:cxnSpLocks/>
          </p:cNvCxnSpPr>
          <p:nvPr/>
        </p:nvCxnSpPr>
        <p:spPr>
          <a:xfrm>
            <a:off x="6466890" y="2752679"/>
            <a:ext cx="1019065" cy="444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2EDEA8B9-BFF0-DBD3-2483-C0D98C9B8D20}"/>
              </a:ext>
            </a:extLst>
          </p:cNvPr>
          <p:cNvSpPr txBox="1"/>
          <p:nvPr/>
        </p:nvSpPr>
        <p:spPr>
          <a:xfrm>
            <a:off x="8073653" y="3058383"/>
            <a:ext cx="1602610" cy="83099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Impact on prediction criterion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="" xmlns:a16="http://schemas.microsoft.com/office/drawing/2014/main" id="{2EDEA8B9-BFF0-DBD3-2483-C0D98C9B8D20}"/>
              </a:ext>
            </a:extLst>
          </p:cNvPr>
          <p:cNvSpPr txBox="1"/>
          <p:nvPr/>
        </p:nvSpPr>
        <p:spPr>
          <a:xfrm>
            <a:off x="8073653" y="1213511"/>
            <a:ext cx="1602610" cy="5847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No Impact on output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 rot="20113844">
            <a:off x="6159669" y="1259452"/>
            <a:ext cx="127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smtClean="0"/>
              <a:t>Disruptor = 0</a:t>
            </a:r>
            <a:endParaRPr lang="en-IN" sz="1600" dirty="0"/>
          </a:p>
        </p:txBody>
      </p:sp>
      <p:sp>
        <p:nvSpPr>
          <p:cNvPr id="78" name="TextBox 77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 rot="1461994">
            <a:off x="6160344" y="3160926"/>
            <a:ext cx="127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smtClean="0"/>
              <a:t>Disruptor = 1</a:t>
            </a:r>
            <a:endParaRPr lang="en-IN" sz="1600" dirty="0"/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1494796" y="4530806"/>
            <a:ext cx="94411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dirty="0" smtClean="0"/>
              <a:t>Tam </a:t>
            </a:r>
            <a:r>
              <a:rPr lang="en-IN" dirty="0"/>
              <a:t>Depends </a:t>
            </a:r>
            <a:r>
              <a:rPr lang="en-IN" dirty="0" smtClean="0"/>
              <a:t>on GDP</a:t>
            </a:r>
            <a:r>
              <a:rPr lang="en-IN" dirty="0"/>
              <a:t>, Population, Health Index, Education, Infrastructure </a:t>
            </a:r>
            <a:r>
              <a:rPr lang="en-IN" dirty="0" smtClean="0"/>
              <a:t>Index by </a:t>
            </a:r>
          </a:p>
          <a:p>
            <a:pPr algn="just"/>
            <a:r>
              <a:rPr lang="en-IN" dirty="0" smtClean="0"/>
              <a:t>-</a:t>
            </a:r>
            <a:r>
              <a:rPr lang="en-IN" dirty="0"/>
              <a:t>3.00</a:t>
            </a:r>
            <a:r>
              <a:rPr lang="en-IN" dirty="0" smtClean="0"/>
              <a:t>%, </a:t>
            </a:r>
            <a:r>
              <a:rPr lang="en-IN" dirty="0"/>
              <a:t>0.00% </a:t>
            </a:r>
            <a:r>
              <a:rPr lang="en-IN" dirty="0" smtClean="0"/>
              <a:t>, </a:t>
            </a:r>
            <a:r>
              <a:rPr lang="en-IN" dirty="0"/>
              <a:t>0.00% </a:t>
            </a:r>
            <a:r>
              <a:rPr lang="en-IN" dirty="0" smtClean="0"/>
              <a:t>, </a:t>
            </a:r>
            <a:r>
              <a:rPr lang="en-IN" dirty="0"/>
              <a:t>0.00% </a:t>
            </a:r>
            <a:r>
              <a:rPr lang="en-IN" dirty="0" smtClean="0"/>
              <a:t>, </a:t>
            </a:r>
            <a:r>
              <a:rPr lang="en-IN" dirty="0"/>
              <a:t>-1.00%  </a:t>
            </a:r>
            <a:r>
              <a:rPr lang="en-IN" dirty="0" smtClean="0"/>
              <a:t>respectively for global recession(considering upper values).</a:t>
            </a:r>
            <a:endParaRPr lang="en-IN" dirty="0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2243171" y="4023487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Example:</a:t>
            </a:r>
            <a:endParaRPr lang="en-IN" dirty="0"/>
          </a:p>
        </p:txBody>
      </p:sp>
      <p:sp>
        <p:nvSpPr>
          <p:cNvPr id="81" name="TextBox 80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1021877" y="5534253"/>
            <a:ext cx="10387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Overall impact = -4% </a:t>
            </a:r>
          </a:p>
          <a:p>
            <a:pPr algn="ctr"/>
            <a:r>
              <a:rPr lang="en-IN" dirty="0" smtClean="0"/>
              <a:t>If disruptor global recession = 1 then there is decrement of -4%value of output generated by previous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72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37699EF0-F68E-91AD-1598-3EB9853E0856}"/>
              </a:ext>
            </a:extLst>
          </p:cNvPr>
          <p:cNvSpPr txBox="1"/>
          <p:nvPr/>
        </p:nvSpPr>
        <p:spPr>
          <a:xfrm>
            <a:off x="144074" y="155276"/>
            <a:ext cx="2439105" cy="64633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Disruptors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Implementation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454EB330-6155-E2EE-8BF7-DB1256644686}"/>
              </a:ext>
            </a:extLst>
          </p:cNvPr>
          <p:cNvSpPr txBox="1"/>
          <p:nvPr/>
        </p:nvSpPr>
        <p:spPr>
          <a:xfrm>
            <a:off x="2389563" y="2079154"/>
            <a:ext cx="1529313" cy="707886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Previous </a:t>
            </a: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NN Model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="" xmlns:a16="http://schemas.microsoft.com/office/drawing/2014/main" id="{45A629CD-4AF8-D311-EE5A-301786D3AC41}"/>
              </a:ext>
            </a:extLst>
          </p:cNvPr>
          <p:cNvCxnSpPr>
            <a:cxnSpLocks/>
          </p:cNvCxnSpPr>
          <p:nvPr/>
        </p:nvCxnSpPr>
        <p:spPr>
          <a:xfrm flipV="1">
            <a:off x="4297937" y="2309985"/>
            <a:ext cx="636013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3A62F144-A371-A894-451D-066FDDFDBD73}"/>
              </a:ext>
            </a:extLst>
          </p:cNvPr>
          <p:cNvSpPr/>
          <p:nvPr/>
        </p:nvSpPr>
        <p:spPr>
          <a:xfrm>
            <a:off x="5198782" y="1806421"/>
            <a:ext cx="1178805" cy="1007131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5D33AB59-2007-161D-AF38-8856CF51AB22}"/>
              </a:ext>
            </a:extLst>
          </p:cNvPr>
          <p:cNvCxnSpPr>
            <a:cxnSpLocks/>
          </p:cNvCxnSpPr>
          <p:nvPr/>
        </p:nvCxnSpPr>
        <p:spPr>
          <a:xfrm flipV="1">
            <a:off x="6457909" y="1447800"/>
            <a:ext cx="1019065" cy="487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5D33AB59-2007-161D-AF38-8856CF51AB22}"/>
              </a:ext>
            </a:extLst>
          </p:cNvPr>
          <p:cNvCxnSpPr>
            <a:cxnSpLocks/>
          </p:cNvCxnSpPr>
          <p:nvPr/>
        </p:nvCxnSpPr>
        <p:spPr>
          <a:xfrm>
            <a:off x="6466890" y="2752679"/>
            <a:ext cx="1019065" cy="444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2EDEA8B9-BFF0-DBD3-2483-C0D98C9B8D20}"/>
              </a:ext>
            </a:extLst>
          </p:cNvPr>
          <p:cNvSpPr txBox="1"/>
          <p:nvPr/>
        </p:nvSpPr>
        <p:spPr>
          <a:xfrm>
            <a:off x="8073653" y="3058383"/>
            <a:ext cx="1602610" cy="830997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Impact on prediction criterion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="" xmlns:a16="http://schemas.microsoft.com/office/drawing/2014/main" id="{2EDEA8B9-BFF0-DBD3-2483-C0D98C9B8D20}"/>
              </a:ext>
            </a:extLst>
          </p:cNvPr>
          <p:cNvSpPr txBox="1"/>
          <p:nvPr/>
        </p:nvSpPr>
        <p:spPr>
          <a:xfrm>
            <a:off x="8073653" y="1213511"/>
            <a:ext cx="1602610" cy="5847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No Impact on output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 rot="20113844">
            <a:off x="6159669" y="1259452"/>
            <a:ext cx="127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smtClean="0"/>
              <a:t>Disruptor = 0</a:t>
            </a:r>
            <a:endParaRPr lang="en-IN" sz="1600" dirty="0"/>
          </a:p>
        </p:txBody>
      </p:sp>
      <p:sp>
        <p:nvSpPr>
          <p:cNvPr id="78" name="TextBox 77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 rot="1461994">
            <a:off x="6160344" y="3160926"/>
            <a:ext cx="1271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smtClean="0"/>
              <a:t>Disruptor = 1</a:t>
            </a:r>
            <a:endParaRPr lang="en-IN" sz="1600" dirty="0"/>
          </a:p>
        </p:txBody>
      </p:sp>
      <p:sp>
        <p:nvSpPr>
          <p:cNvPr id="79" name="TextBox 78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1549170" y="4530806"/>
            <a:ext cx="9332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IN" dirty="0" smtClean="0"/>
              <a:t>Tam </a:t>
            </a:r>
            <a:r>
              <a:rPr lang="en-IN" dirty="0"/>
              <a:t>Depends </a:t>
            </a:r>
            <a:r>
              <a:rPr lang="en-IN" dirty="0" smtClean="0"/>
              <a:t>on GDP</a:t>
            </a:r>
            <a:r>
              <a:rPr lang="en-IN" dirty="0"/>
              <a:t>, Population, Health Index, Education, Infrastructure </a:t>
            </a:r>
            <a:r>
              <a:rPr lang="en-IN" dirty="0" smtClean="0"/>
              <a:t>Index by </a:t>
            </a:r>
          </a:p>
          <a:p>
            <a:pPr algn="just"/>
            <a:r>
              <a:rPr lang="en-IN" dirty="0" smtClean="0"/>
              <a:t>-</a:t>
            </a:r>
            <a:r>
              <a:rPr lang="en-IN" dirty="0"/>
              <a:t>5</a:t>
            </a:r>
            <a:r>
              <a:rPr lang="en-IN" dirty="0" smtClean="0"/>
              <a:t>.00%, </a:t>
            </a:r>
            <a:r>
              <a:rPr lang="en-IN" dirty="0"/>
              <a:t>0.00% </a:t>
            </a:r>
            <a:r>
              <a:rPr lang="en-IN" dirty="0" smtClean="0"/>
              <a:t>, </a:t>
            </a:r>
            <a:r>
              <a:rPr lang="en-IN" dirty="0"/>
              <a:t>0.00% </a:t>
            </a:r>
            <a:r>
              <a:rPr lang="en-IN" dirty="0" smtClean="0"/>
              <a:t>, </a:t>
            </a:r>
            <a:r>
              <a:rPr lang="en-IN" dirty="0"/>
              <a:t>0.00% </a:t>
            </a:r>
            <a:r>
              <a:rPr lang="en-IN" dirty="0" smtClean="0"/>
              <a:t>, -2.00</a:t>
            </a:r>
            <a:r>
              <a:rPr lang="en-IN" dirty="0"/>
              <a:t>%  </a:t>
            </a:r>
            <a:r>
              <a:rPr lang="en-IN" dirty="0" smtClean="0"/>
              <a:t>respectively for global recession(considering lower values).</a:t>
            </a:r>
            <a:endParaRPr lang="en-IN" dirty="0"/>
          </a:p>
        </p:txBody>
      </p: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2243171" y="4023487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Example:</a:t>
            </a:r>
            <a:endParaRPr lang="en-IN" dirty="0"/>
          </a:p>
        </p:txBody>
      </p:sp>
      <p:sp>
        <p:nvSpPr>
          <p:cNvPr id="81" name="TextBox 80">
            <a:extLst>
              <a:ext uri="{FF2B5EF4-FFF2-40B4-BE49-F238E27FC236}">
                <a16:creationId xmlns="" xmlns:a16="http://schemas.microsoft.com/office/drawing/2014/main" id="{F2A56348-A6CB-1650-DCEA-AB5532E9B71A}"/>
              </a:ext>
            </a:extLst>
          </p:cNvPr>
          <p:cNvSpPr txBox="1"/>
          <p:nvPr/>
        </p:nvSpPr>
        <p:spPr>
          <a:xfrm>
            <a:off x="1021877" y="5534253"/>
            <a:ext cx="10387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 smtClean="0"/>
              <a:t>Overall impact = -7% </a:t>
            </a:r>
          </a:p>
          <a:p>
            <a:pPr algn="ctr"/>
            <a:r>
              <a:rPr lang="en-IN" dirty="0" smtClean="0"/>
              <a:t>If disruptor global recession = 1 then there is decrement of -7% value of output generated by previous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752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1090</TotalTime>
  <Words>270</Words>
  <Application>Microsoft Office PowerPoint</Application>
  <PresentationFormat>Custom</PresentationFormat>
  <Paragraphs>61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Vineet Bhardwaj</dc:creator>
  <cp:lastModifiedBy>HP</cp:lastModifiedBy>
  <cp:revision>49</cp:revision>
  <dcterms:created xsi:type="dcterms:W3CDTF">2025-01-20T09:17:43Z</dcterms:created>
  <dcterms:modified xsi:type="dcterms:W3CDTF">2025-04-13T16:43:47Z</dcterms:modified>
</cp:coreProperties>
</file>